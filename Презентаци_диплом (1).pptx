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2" r:id="rId6"/>
    <p:sldId id="263" r:id="rId7"/>
    <p:sldId id="264" r:id="rId8"/>
    <p:sldId id="260" r:id="rId9"/>
    <p:sldId id="261" r:id="rId10"/>
    <p:sldId id="269" r:id="rId11"/>
    <p:sldId id="270" r:id="rId12"/>
    <p:sldId id="266" r:id="rId13"/>
    <p:sldId id="268" r:id="rId14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87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4BCAF1-594F-4029-B679-459EF656F330}" type="datetimeFigureOut">
              <a:rPr lang="ru-RU" smtClean="0"/>
              <a:t>15.12.2025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BD78B61-E914-46FD-A406-64102CBEE7A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865348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2F467C7-C19A-486C-A8CA-498F9C8B64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53AAFEE9-C0CC-4A31-B951-2B72FFC975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6B8EBCB-2F62-42AB-8861-61BB09B5BA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3DA7CE-9F03-4807-BC64-81D150E9D306}" type="datetime1">
              <a:rPr lang="ru-RU" smtClean="0"/>
              <a:t>15.12.2025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F840879-EF34-4146-BCE0-2CA4E99452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26A24C5-555A-46F5-A70A-97CC5917BA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EF85B-4928-4330-BA98-C984623441A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377876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83CCA85-C274-4021-B068-635D3A41EF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B5F03A5-833F-4501-9691-B05FFDB487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CFFB5D9-F961-4B92-88AD-DCD05C7F2C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E2039E-1C42-447B-8387-AD3511A6D36A}" type="datetime1">
              <a:rPr lang="ru-RU" smtClean="0"/>
              <a:t>15.12.2025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2C9559F-C775-478D-8D47-241D9DFE8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E2A08E2-0397-4667-B373-35FC53EBF2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EF85B-4928-4330-BA98-C984623441A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342957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920603B-0075-42CA-A8B5-6D1B54C0E4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4F08725-2C5B-48CC-B94A-1E6048271E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5ACBDD7-666C-4946-AD1B-FAEA71B9E2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E527C-3EF4-4C6A-8603-0347369C92C5}" type="datetime1">
              <a:rPr lang="ru-RU" smtClean="0"/>
              <a:t>15.12.2025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08D6F17-5D7A-4E59-ACCE-E0A394B069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8C8CDA6-BA3B-49DA-AE93-673F3D3C24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EF85B-4928-4330-BA98-C984623441A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062364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BFB9D27-25B7-465B-BDA5-5A1E92DE96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1DDE4D9-DD9A-48FA-90C7-1C0216C7A7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773DFD26-DA08-41D2-A487-1AE940FD9E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8AF3F52-72E9-4470-9FA8-4149B5C332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16EA3-A032-4576-A91D-A6CEC20C76B1}" type="datetime1">
              <a:rPr lang="ru-RU" smtClean="0"/>
              <a:t>15.12.2025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5873A62-F60B-4847-BF32-B473D6D57E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1045286-1D26-43C1-8119-A06DB7FE4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EF85B-4928-4330-BA98-C984623441A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491138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221AEE-4A8D-42DF-803D-C159D96223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968AF40-9FC6-4A07-9976-37B1C59CB6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09E08F6-AA06-4CF1-B5E4-D920560636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FEFF694F-8131-43EB-BC49-4A680B69814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7C5332C5-2C77-4F50-8241-A8124BBC745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EB4EEA87-B483-4E46-93E3-CEBC3B20A3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A69A4-3F7F-4FBA-8B05-803BF338C0F1}" type="datetime1">
              <a:rPr lang="ru-RU" smtClean="0"/>
              <a:t>15.12.2025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37A6DDAB-C23D-4090-84B9-CFCFF1AF60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C7FC766F-E6A8-4106-9A7B-D3E016C5BD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EF85B-4928-4330-BA98-C984623441A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579981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22302D9-C547-4D86-A62D-B7782AD08A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89852159-221D-4E9B-ACB3-CBC5B4F110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71C4F5-4AC5-4E13-8D8B-8B7D5549FA48}" type="datetime1">
              <a:rPr lang="ru-RU" smtClean="0"/>
              <a:t>15.12.2025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A9545A0C-B742-4753-B06A-14FBC8158C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54DA7E0E-8536-46AA-9E08-272259C9A8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EF85B-4928-4330-BA98-C984623441A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828730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BEC349C0-D2CE-4113-BCC9-8D93F2A833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4ADFB-0797-4BAA-AAF2-7277FAE1EDF1}" type="datetime1">
              <a:rPr lang="ru-RU" smtClean="0"/>
              <a:t>15.12.2025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82CC13BC-B393-48C6-AB3F-242CEA9DF8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149CCAA-5BFC-4993-A49B-60C3182CA7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EF85B-4928-4330-BA98-C984623441A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744328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5AD1CFA-1A1D-41CE-B87F-9E32AC5C9A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D5D2655-0A33-4377-BD46-99AE43B676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2AF95C9-DC70-4C89-A949-BFB29DE6D7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EB5128E-C662-40AD-80C7-9C88F276F1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476728-B879-43D7-9AA0-63FD39146699}" type="datetime1">
              <a:rPr lang="ru-RU" smtClean="0"/>
              <a:t>15.12.2025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EFBB4ED-9F27-4B0D-87F9-3A323F395A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8FA311E-23E0-44A1-8F53-CE8C3F37E8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EF85B-4928-4330-BA98-C984623441A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357612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B8A1141-9CDD-459B-9753-4B8AB3BE84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1EEC0A37-CDA0-4A0C-AADF-AACD99669F1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A6ED5E7-E0EB-4D91-9FF7-5DE59C6511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34E78AB-BBE4-4F84-A605-A5D5A4157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A6A244-B0F3-4A2D-BE21-7819868B6144}" type="datetime1">
              <a:rPr lang="ru-RU" smtClean="0"/>
              <a:t>15.12.2025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B2F76FD-FEE1-4A28-8B43-CD648D0765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51B327C-B471-4C08-93C1-53EA0DE570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EF85B-4928-4330-BA98-C984623441A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784575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9DD7B96-9E89-42E8-A306-6E87B99A99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573D94D6-4B39-40F7-8CDC-9082CE9F73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939EA9F-FE89-4A46-90E6-02A635AB73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8CC41-2732-4058-BC9A-069B6FEFB421}" type="datetime1">
              <a:rPr lang="ru-RU" smtClean="0"/>
              <a:t>15.12.2025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70706EA-35C5-4E64-8317-118C8294E0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FE44B7F-589D-4163-9272-EA2805438C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EF85B-4928-4330-BA98-C984623441A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302780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1814AE6B-488A-4C8B-9CB4-BD6D6F53D18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2F268944-1565-4FB6-AAA7-53734EA1F9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19DB848-7ADE-4923-9A4B-2C4B5DC0E6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86B18-C03B-4786-8121-EF310E9C505B}" type="datetime1">
              <a:rPr lang="ru-RU" smtClean="0"/>
              <a:t>15.12.2025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F12FCB2-1BCA-43EA-B75D-0FB8700906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6EB772E-A1DD-432C-898A-E23AE12155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EF85B-4928-4330-BA98-C984623441A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352829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4CB3FDD-D391-42F2-AD9D-E9B8C5FA83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810AB1E-6653-4870-BB69-B39153F650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8530780-E223-4F31-BD96-DCBD094E1E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ECF96D-27F3-41A3-9F10-16D48A0FDEE6}" type="datetime1">
              <a:rPr lang="ru-RU" smtClean="0"/>
              <a:t>15.12.2025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34D24D6-7C8E-454D-900B-BE9ED35553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0FE60A6-98D1-40AD-BB8C-777B052109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CEF85B-4928-4330-BA98-C984623441A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660654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91671F49-5571-9492-1C4B-33A4F72A71C0}"/>
              </a:ext>
            </a:extLst>
          </p:cNvPr>
          <p:cNvSpPr txBox="1">
            <a:spLocks/>
          </p:cNvSpPr>
          <p:nvPr/>
        </p:nvSpPr>
        <p:spPr>
          <a:xfrm>
            <a:off x="1857712" y="569203"/>
            <a:ext cx="8507088" cy="1300672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МИНИСТЕРСТВО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НАУКИ И ВЫСШЕГО ОБРАЗОВАНИЯ РОССИЙСКОЙ ФЕДЕРАЦИИ</a:t>
            </a:r>
            <a:b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Федеральное государственное бюджетное образовательное учреждение высшего образования</a:t>
            </a:r>
            <a:b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«КУБАНСКИЙ ГОСУДАРСТВЕННЫЙ УНИВЕРСИТЕТ»</a:t>
            </a:r>
            <a:b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(ФГБОУ ВО «КубГУ»)</a:t>
            </a:r>
            <a:b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C93063-458C-368C-40A7-3B5979CFF959}"/>
              </a:ext>
            </a:extLst>
          </p:cNvPr>
          <p:cNvSpPr txBox="1"/>
          <p:nvPr/>
        </p:nvSpPr>
        <p:spPr>
          <a:xfrm>
            <a:off x="1857712" y="3271005"/>
            <a:ext cx="85070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ГИБРИДНЫЙ БАКТЕРИАЛЬНО-РОЕВОЙ АЛГОРИТМ ОПТИМИЗАЦИИ ПАРАМЕТРОВ JVM ДЛЯ JAVA-ПРИЛОЖЕНИЙ В КОНТЕЙНЕРАХ DOCKER</a:t>
            </a:r>
            <a:endParaRPr lang="ru-RU" sz="1800" dirty="0">
              <a:effectLst/>
              <a:latin typeface="Times New Roman" panose="02020603050405020304" pitchFamily="18" charset="0"/>
              <a:ea typeface="Aptos" panose="020B00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14B2C76-9009-9558-E00B-1C90C3BC1EEF}"/>
              </a:ext>
            </a:extLst>
          </p:cNvPr>
          <p:cNvSpPr txBox="1"/>
          <p:nvPr/>
        </p:nvSpPr>
        <p:spPr>
          <a:xfrm>
            <a:off x="1857712" y="2247275"/>
            <a:ext cx="84859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ВЫПУСКНАЯ КВАЛИФИКАЦИОННАЯ РАБОТА </a:t>
            </a:r>
          </a:p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(БАКАЛАВРСКАЯ РАБОТА)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977DC22-F9E3-CDFD-B3A4-6F8714F36D96}"/>
              </a:ext>
            </a:extLst>
          </p:cNvPr>
          <p:cNvSpPr txBox="1"/>
          <p:nvPr/>
        </p:nvSpPr>
        <p:spPr>
          <a:xfrm>
            <a:off x="571501" y="5088468"/>
            <a:ext cx="428245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Работу выполнил</a:t>
            </a:r>
          </a:p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Научный руководитель 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канд.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техн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наук, доц.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645D390-CF89-909B-6611-38578D65A027}"/>
              </a:ext>
            </a:extLst>
          </p:cNvPr>
          <p:cNvSpPr txBox="1"/>
          <p:nvPr/>
        </p:nvSpPr>
        <p:spPr>
          <a:xfrm>
            <a:off x="8382000" y="5088467"/>
            <a:ext cx="323849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Г-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А.Ш.Шурпаев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/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Е.Е. Полупанова</a:t>
            </a:r>
          </a:p>
        </p:txBody>
      </p:sp>
    </p:spTree>
    <p:extLst>
      <p:ext uri="{BB962C8B-B14F-4D97-AF65-F5344CB8AC3E}">
        <p14:creationId xmlns:p14="http://schemas.microsoft.com/office/powerpoint/2010/main" val="42679408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20C646A-788F-4874-840A-A52EEC5932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22642"/>
          </a:xfrm>
        </p:spPr>
        <p:txBody>
          <a:bodyPr>
            <a:normAutofit fontScale="90000"/>
          </a:bodyPr>
          <a:lstStyle/>
          <a:p>
            <a:pPr algn="ctr"/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Цели и задачи работы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D9CCF5B-391A-441A-A96A-78AD5DA5B4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18586"/>
            <a:ext cx="10515600" cy="5058377"/>
          </a:xfrm>
        </p:spPr>
        <p:txBody>
          <a:bodyPr>
            <a:normAutofit fontScale="70000" lnSpcReduction="20000"/>
          </a:bodyPr>
          <a:lstStyle/>
          <a:p>
            <a:pPr marL="0" indent="447675" algn="just">
              <a:lnSpc>
                <a:spcPct val="170000"/>
              </a:lnSpc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Целью данной работы является </a:t>
            </a:r>
            <a:r>
              <a:rPr kumimoji="0" lang="ru-RU" altLang="ru-RU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Автоматический подбор оптимальных параметров памяти JVM (-</a:t>
            </a:r>
            <a:r>
              <a:rPr kumimoji="0" lang="ru-RU" altLang="ru-RU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Xms</a:t>
            </a:r>
            <a:r>
              <a:rPr kumimoji="0" lang="ru-RU" altLang="ru-RU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-</a:t>
            </a:r>
            <a:r>
              <a:rPr kumimoji="0" lang="ru-RU" altLang="ru-RU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Xmx</a:t>
            </a:r>
            <a:r>
              <a:rPr kumimoji="0" lang="ru-RU" altLang="ru-RU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 для Java-приложений, функционирующих в контейнерах </a:t>
            </a:r>
            <a:r>
              <a:rPr kumimoji="0" lang="ru-RU" altLang="ru-RU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Docker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447675" algn="just">
              <a:lnSpc>
                <a:spcPct val="170000"/>
              </a:lnSpc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Основные задачи:</a:t>
            </a:r>
          </a:p>
          <a:p>
            <a:pPr marL="0" marR="0" lvl="0" indent="447675" algn="just" defTabSz="914400" rtl="0" eaLnBrk="0" fontAlgn="base" latinLnBrk="0" hangingPunct="0">
              <a:lnSpc>
                <a:spcPct val="17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arenR"/>
              <a:tabLst/>
            </a:pPr>
            <a:r>
              <a:rPr kumimoji="0" lang="ru-RU" altLang="ru-RU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Изучить теоретические основы </a:t>
            </a:r>
            <a:r>
              <a:rPr kumimoji="0" lang="ru-RU" altLang="ru-RU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метаэвристических</a:t>
            </a:r>
            <a:r>
              <a:rPr kumimoji="0" lang="ru-RU" altLang="ru-RU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алгоритмов </a:t>
            </a:r>
            <a:r>
              <a:rPr kumimoji="0" lang="ru-RU" altLang="ru-RU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Bacterial</a:t>
            </a:r>
            <a:r>
              <a:rPr kumimoji="0" lang="ru-RU" altLang="ru-RU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Foraging</a:t>
            </a:r>
            <a:r>
              <a:rPr kumimoji="0" lang="ru-RU" altLang="ru-RU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Optimization</a:t>
            </a:r>
            <a:r>
              <a:rPr kumimoji="0" lang="ru-RU" altLang="ru-RU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Algorithm</a:t>
            </a:r>
            <a:r>
              <a:rPr kumimoji="0" lang="ru-RU" altLang="ru-RU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(BFOA) и </a:t>
            </a:r>
            <a:r>
              <a:rPr kumimoji="0" lang="ru-RU" altLang="ru-RU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Particle</a:t>
            </a:r>
            <a:r>
              <a:rPr kumimoji="0" lang="ru-RU" altLang="ru-RU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Swarm</a:t>
            </a:r>
            <a:r>
              <a:rPr kumimoji="0" lang="ru-RU" altLang="ru-RU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Optimization</a:t>
            </a:r>
            <a:r>
              <a:rPr kumimoji="0" lang="ru-RU" altLang="ru-RU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(PSO).</a:t>
            </a:r>
          </a:p>
          <a:p>
            <a:pPr marL="0" marR="0" lvl="0" indent="447675" algn="just" defTabSz="914400" rtl="0" eaLnBrk="0" fontAlgn="base" latinLnBrk="0" hangingPunct="0">
              <a:lnSpc>
                <a:spcPct val="17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arenR"/>
              <a:tabLst/>
            </a:pPr>
            <a:r>
              <a:rPr kumimoji="0" lang="ru-RU" altLang="ru-RU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Разработать и </a:t>
            </a:r>
            <a:r>
              <a:rPr kumimoji="0" lang="ru-RU" altLang="ru-RU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программно</a:t>
            </a:r>
            <a:r>
              <a:rPr kumimoji="0" lang="ru-RU" altLang="ru-RU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реализовать гибридный алгоритм BFPSO.</a:t>
            </a:r>
            <a:endParaRPr kumimoji="0" lang="ru-RU" altLang="ru-RU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447675" algn="just">
              <a:lnSpc>
                <a:spcPct val="170000"/>
              </a:lnSpc>
              <a:buFont typeface="+mj-lt"/>
              <a:buAutoNum type="arabicParenR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Реализация алгоритма на языке программирования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</a:t>
            </a:r>
          </a:p>
          <a:p>
            <a:pPr marL="0" indent="447675" algn="just">
              <a:lnSpc>
                <a:spcPct val="170000"/>
              </a:lnSpc>
              <a:buFont typeface="+mj-lt"/>
              <a:buAutoNum type="arabicParenR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Провести сравнительный анализ эффективности гибридного алгоритма с его базовыми компонентами (PSO, BFOA) и методом случайного поиска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6742D18-EF0F-2CCA-3B72-38030B27FB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EF85B-4928-4330-BA98-C984623441A6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724660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6D464D7-C334-4D73-AE10-B5EAF38861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20296"/>
          </a:xfrm>
        </p:spPr>
        <p:txBody>
          <a:bodyPr>
            <a:noAutofit/>
          </a:bodyPr>
          <a:lstStyle/>
          <a:p>
            <a:pPr algn="ctr"/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Объект и предмет исследования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DB214C9-CF4B-4DCC-B3A2-A08AC8194D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2773"/>
            <a:ext cx="10515600" cy="4854190"/>
          </a:xfrm>
        </p:spPr>
        <p:txBody>
          <a:bodyPr>
            <a:normAutofit/>
          </a:bodyPr>
          <a:lstStyle/>
          <a:p>
            <a:pPr marL="0" lvl="0" indent="447675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ru-RU" alt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Объект исследования</a:t>
            </a:r>
          </a:p>
          <a:p>
            <a:pPr marL="0" lvl="0" indent="447675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arenR"/>
            </a:pPr>
            <a:r>
              <a:rPr lang="ru-RU" alt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Java-приложение, запущенное и работающее в изолированной среде </a:t>
            </a:r>
            <a:r>
              <a:rPr lang="ru-RU" alt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Docker</a:t>
            </a:r>
            <a:r>
              <a:rPr lang="ru-RU" alt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-контейнера.</a:t>
            </a:r>
          </a:p>
          <a:p>
            <a:pPr marL="0" lvl="0" indent="447675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arenR"/>
            </a:pPr>
            <a:r>
              <a:rPr lang="ru-RU" alt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Гибридный бактериально-роевой алгоритм (BFPSO).</a:t>
            </a:r>
          </a:p>
          <a:p>
            <a:pPr marL="0" lvl="0" indent="447675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arenR"/>
            </a:pPr>
            <a:r>
              <a:rPr lang="ru-RU" alt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Предмет исследования</a:t>
            </a:r>
          </a:p>
          <a:p>
            <a:pPr marL="0" lvl="0" indent="447675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arenR"/>
            </a:pPr>
            <a:r>
              <a:rPr lang="ru-RU" alt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Параметры памяти виртуальной машины Java (JVM), в частности:</a:t>
            </a:r>
          </a:p>
          <a:p>
            <a:pPr marL="457200" lvl="2" indent="447675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arenR"/>
            </a:pPr>
            <a:r>
              <a:rPr lang="ru-RU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Начальный размер кучи (-</a:t>
            </a:r>
            <a:r>
              <a:rPr lang="ru-RU" alt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Xms</a:t>
            </a:r>
            <a:r>
              <a:rPr lang="ru-RU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marL="457200" lvl="2" indent="447675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arenR"/>
            </a:pPr>
            <a:r>
              <a:rPr lang="ru-RU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Максимальный размер кучи (-</a:t>
            </a:r>
            <a:r>
              <a:rPr lang="ru-RU" alt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Xmx</a:t>
            </a:r>
            <a:r>
              <a:rPr lang="ru-RU" alt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marL="0" indent="0">
              <a:buNone/>
            </a:pP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F662B9F-B0E0-4132-F955-C8C9BEEA6F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EF85B-4928-4330-BA98-C984623441A6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168508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90743E6-914D-49F2-937A-EF2D5BEA0D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13259"/>
          </a:xfrm>
        </p:spPr>
        <p:txBody>
          <a:bodyPr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Используемые алгоритмы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CB0A69ED-E3EF-4C66-8146-C0239A9528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278384"/>
            <a:ext cx="10515600" cy="5214491"/>
          </a:xfrm>
        </p:spPr>
        <p:txBody>
          <a:bodyPr>
            <a:normAutofit fontScale="40000" lnSpcReduction="20000"/>
          </a:bodyPr>
          <a:lstStyle/>
          <a:p>
            <a:pPr marL="0" indent="447675" algn="just">
              <a:lnSpc>
                <a:spcPct val="170000"/>
              </a:lnSpc>
              <a:buNone/>
            </a:pPr>
            <a:r>
              <a:rPr lang="ru-RU" sz="5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Для решения задачи многокритериальной оптимизации использовались эволюционные алгоритмы:</a:t>
            </a:r>
          </a:p>
          <a:p>
            <a:pPr marL="0" indent="447675" algn="just">
              <a:lnSpc>
                <a:spcPct val="170000"/>
              </a:lnSpc>
              <a:buFont typeface="+mj-lt"/>
              <a:buAutoNum type="arabicParenR"/>
            </a:pPr>
            <a:r>
              <a:rPr lang="ru-RU" sz="5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PSO (</a:t>
            </a:r>
            <a:r>
              <a:rPr lang="ru-RU" sz="5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Particle</a:t>
            </a:r>
            <a:r>
              <a:rPr lang="ru-RU" sz="5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5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Swarm</a:t>
            </a:r>
            <a:r>
              <a:rPr lang="ru-RU" sz="5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5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Optimization</a:t>
            </a:r>
            <a:r>
              <a:rPr lang="ru-RU" sz="5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 Рой частиц): Обеспечивает глобальный поиск и быстрое нахождение перспективной области решений.</a:t>
            </a:r>
          </a:p>
          <a:p>
            <a:pPr marL="0" indent="447675" algn="just">
              <a:lnSpc>
                <a:spcPct val="170000"/>
              </a:lnSpc>
              <a:buFont typeface="+mj-lt"/>
              <a:buAutoNum type="arabicParenR"/>
            </a:pPr>
            <a:r>
              <a:rPr lang="ru-RU" sz="5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BFOA (</a:t>
            </a:r>
            <a:r>
              <a:rPr lang="ru-RU" sz="5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Bacterial</a:t>
            </a:r>
            <a:r>
              <a:rPr lang="ru-RU" sz="5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5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Foraging</a:t>
            </a:r>
            <a:r>
              <a:rPr lang="ru-RU" sz="5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5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Optimization</a:t>
            </a:r>
            <a:r>
              <a:rPr lang="ru-RU" sz="5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5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Algorithm</a:t>
            </a:r>
            <a:r>
              <a:rPr lang="ru-RU" sz="5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 Бактериальный поиск): Применяется для локального уточнения найденного решения (хемотаксис) и предотвращения застревания в локальных минимумах (элиминация/дисперсия).</a:t>
            </a:r>
          </a:p>
          <a:p>
            <a:pPr marL="0" indent="447675" algn="just">
              <a:lnSpc>
                <a:spcPct val="170000"/>
              </a:lnSpc>
              <a:buFont typeface="+mj-lt"/>
              <a:buAutoNum type="arabicParenR"/>
            </a:pPr>
            <a:r>
              <a:rPr lang="ru-RU" sz="5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Гибрид BFOA + PSO (BFPSO): Комбинирует сильные стороны обоих подходов, используя скорость роевого поиска и точность бактериального уточнения.</a:t>
            </a:r>
          </a:p>
          <a:p>
            <a:pPr marL="0" indent="0">
              <a:buNone/>
            </a:pPr>
            <a:endParaRPr lang="ru-RU" dirty="0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C5873A89-FC79-94FE-8465-6909C15CDF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EF85B-4928-4330-BA98-C984623441A6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409623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156A503-DD83-4D93-BB71-569F5803FE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3663"/>
          </a:xfrm>
        </p:spPr>
        <p:txBody>
          <a:bodyPr>
            <a:normAutofit/>
          </a:bodyPr>
          <a:lstStyle/>
          <a:p>
            <a:pPr algn="ctr"/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Принципы работы алгоритма роя частиц</a:t>
            </a:r>
            <a:endParaRPr lang="ru-RU" sz="3600" dirty="0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E37FC9A4-4787-DCEF-22B6-D01F8ABBC4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EF85B-4928-4330-BA98-C984623441A6}" type="slidenum">
              <a:rPr lang="ru-RU" smtClean="0"/>
              <a:t>5</a:t>
            </a:fld>
            <a:endParaRPr lang="ru-RU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369ACD85-838C-8336-15BF-6B0FC673D4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71732" y="1070050"/>
            <a:ext cx="1581467" cy="543700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050433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501ADBF-D640-4BAA-A6E3-25528263AF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7950"/>
          </a:xfrm>
        </p:spPr>
        <p:txBody>
          <a:bodyPr>
            <a:normAutofit/>
          </a:bodyPr>
          <a:lstStyle/>
          <a:p>
            <a:pPr algn="ctr"/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Принципы работы бактериального алгоритма</a:t>
            </a:r>
            <a:endParaRPr lang="ru-RU" sz="3600" dirty="0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96DEB2D0-35DD-C22D-860E-97150F9E87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EF85B-4928-4330-BA98-C984623441A6}" type="slidenum">
              <a:rPr lang="ru-RU" smtClean="0"/>
              <a:t>6</a:t>
            </a:fld>
            <a:endParaRPr lang="ru-RU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A400BA9F-3D2D-9EE4-5550-0D7BB2D15F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2260" y="1188793"/>
            <a:ext cx="3967480" cy="516755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180347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F61B2DC-F35C-4621-887A-A5BFF22D75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55807"/>
          </a:xfrm>
        </p:spPr>
        <p:txBody>
          <a:bodyPr>
            <a:normAutofit/>
          </a:bodyPr>
          <a:lstStyle/>
          <a:p>
            <a:pPr algn="ctr"/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Принципы работы гибридного алгоритма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65A2287-6080-230C-9BF7-F3629DE1C1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EF85B-4928-4330-BA98-C984623441A6}" type="slidenum">
              <a:rPr lang="ru-RU" smtClean="0"/>
              <a:t>7</a:t>
            </a:fld>
            <a:endParaRPr lang="ru-RU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D34B4371-3AF4-9D41-DB85-AC2645EC7B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76261" y="1020932"/>
            <a:ext cx="3439478" cy="552925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641696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Заголовок 8">
            <a:extLst>
              <a:ext uri="{FF2B5EF4-FFF2-40B4-BE49-F238E27FC236}">
                <a16:creationId xmlns:a16="http://schemas.microsoft.com/office/drawing/2014/main" id="{7F87C08C-4B59-4154-ACA0-519FC8F8F9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77850"/>
          </a:xfrm>
        </p:spPr>
        <p:txBody>
          <a:bodyPr>
            <a:noAutofit/>
          </a:bodyPr>
          <a:lstStyle/>
          <a:p>
            <a:pPr algn="ctr"/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Функция оценки (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Cost)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63261BEF-6140-7507-0786-0767BD01F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EF85B-4928-4330-BA98-C984623441A6}" type="slidenum">
              <a:rPr lang="ru-RU" smtClean="0"/>
              <a:t>8</a:t>
            </a:fld>
            <a:endParaRPr lang="ru-RU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Rectangle 1">
                <a:extLst>
                  <a:ext uri="{FF2B5EF4-FFF2-40B4-BE49-F238E27FC236}">
                    <a16:creationId xmlns:a16="http://schemas.microsoft.com/office/drawing/2014/main" id="{C174EA5F-C5B1-F4C5-9732-8A30DD010FF8}"/>
                  </a:ext>
                </a:extLst>
              </p:cNvPr>
              <p:cNvSpPr>
                <a:spLocks noGrp="1" noChangeArrowheads="1"/>
              </p:cNvSpPr>
              <p:nvPr>
                <p:ph sz="half" idx="1"/>
              </p:nvPr>
            </p:nvSpPr>
            <p:spPr bwMode="auto">
              <a:xfrm>
                <a:off x="190499" y="891216"/>
                <a:ext cx="11496675" cy="571483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447675" algn="just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ru-RU" altLang="ru-RU" sz="240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Многокритериальный подход</a:t>
                </a:r>
              </a:p>
              <a:p>
                <a:pPr marL="0" marR="0" lvl="0" indent="447675" algn="just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ru-RU" altLang="ru-RU" sz="240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Оптимизация является многокритериальной, поэтому используется единая нормированная функция стоимости (Cost), которую необходимо минимизировать.</a:t>
                </a:r>
              </a:p>
              <a:p>
                <a:pPr marL="0" lvl="0" indent="447675" algn="just" eaLnBrk="0" fontAlgn="base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ru-RU" altLang="ru-RU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ru-RU" altLang="ru-RU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𝑐𝑜𝑠</m:t>
                          </m:r>
                        </m:fName>
                        <m:e>
                          <m:r>
                            <a:rPr lang="ru-RU" altLang="ru-RU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d>
                            <m:dPr>
                              <m:ctrlPr>
                                <a:rPr lang="ru-RU" altLang="ru-RU" sz="240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ru-RU" altLang="ru-RU" sz="240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func>
                      <m:r>
                        <a:rPr lang="ru-RU" altLang="ru-RU" sz="24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ru-RU" altLang="ru-RU" sz="24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f>
                        <m:fPr>
                          <m:ctrlPr>
                            <a:rPr lang="ru-RU" altLang="ru-RU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ru-RU" altLang="ru-RU" sz="240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altLang="ru-RU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ru-RU" altLang="ru-RU" sz="24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выполнения</m:t>
                              </m:r>
                            </m:sub>
                          </m:sSub>
                          <m:d>
                            <m:dPr>
                              <m:begChr m:val="|"/>
                              <m:endChr m:val="|"/>
                              <m:ctrlPr>
                                <a:rPr lang="ru-RU" altLang="ru-RU" sz="240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ru-RU" altLang="ru-RU" sz="240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num>
                        <m:den>
                          <m:sSub>
                            <m:sSubPr>
                              <m:ctrlPr>
                                <a:rPr lang="ru-RU" altLang="ru-RU" sz="240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ru-RU" sz="24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ru-RU" altLang="ru-RU" sz="24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дефолт</m:t>
                              </m:r>
                            </m:sub>
                          </m:sSub>
                        </m:den>
                      </m:f>
                      <m:r>
                        <a:rPr lang="ru-RU" altLang="ru-RU" sz="24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ru-RU" altLang="ru-RU" sz="24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𝛽</m:t>
                      </m:r>
                      <m:f>
                        <m:fPr>
                          <m:ctrlPr>
                            <a:rPr lang="ru-RU" altLang="ru-RU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ru-RU" altLang="ru-RU" sz="240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ru-RU" sz="24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ru-RU" altLang="ru-RU" sz="24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пиковое</m:t>
                              </m:r>
                            </m:sub>
                          </m:sSub>
                          <m:d>
                            <m:dPr>
                              <m:ctrlPr>
                                <a:rPr lang="ru-RU" altLang="ru-RU" sz="240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ru-RU" altLang="ru-RU" sz="240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num>
                        <m:den>
                          <m:sSub>
                            <m:sSubPr>
                              <m:ctrlPr>
                                <a:rPr lang="ru-RU" altLang="ru-RU" sz="240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ru-RU" sz="24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ru-RU" altLang="ru-RU" sz="24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дефолт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ru-RU" altLang="ru-RU" sz="240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marR="0" lvl="0" indent="447675" algn="just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altLang="ru-RU" sz="240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marR="0" lvl="0" indent="447675" algn="just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ru-RU" altLang="ru-RU" sz="240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Cost учитывает:</a:t>
                </a:r>
              </a:p>
              <a:p>
                <a:pPr marL="0" marR="0" lvl="0" indent="447675" algn="just" defTabSz="914400" rtl="0" eaLnBrk="0" fontAlgn="base" latinLnBrk="0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+mj-lt"/>
                  <a:buAutoNum type="arabicParenR"/>
                  <a:tabLst/>
                </a:pPr>
                <a:r>
                  <a:rPr kumimoji="0" lang="ru-RU" altLang="ru-RU" sz="240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Время выполнения (T): Метрика производительности.</a:t>
                </a:r>
              </a:p>
              <a:p>
                <a:pPr marL="0" marR="0" lvl="0" indent="447675" algn="just" defTabSz="914400" rtl="0" eaLnBrk="0" fontAlgn="base" latinLnBrk="0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+mj-lt"/>
                  <a:buAutoNum type="arabicParenR"/>
                  <a:tabLst/>
                </a:pPr>
                <a:r>
                  <a:rPr kumimoji="0" lang="ru-RU" altLang="ru-RU" sz="240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Использование памяти (M): Метрика </a:t>
                </a:r>
                <a:r>
                  <a:rPr kumimoji="0" lang="ru-RU" altLang="ru-RU" sz="2400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ресурсоэффективности</a:t>
                </a:r>
                <a:r>
                  <a:rPr kumimoji="0" lang="ru-RU" altLang="ru-RU" sz="240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(пиковое потребление </a:t>
                </a:r>
                <a:r>
                  <a:rPr kumimoji="0" lang="ru-RU" altLang="ru-RU" sz="2400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heap</a:t>
                </a:r>
                <a:r>
                  <a:rPr kumimoji="0" lang="ru-RU" altLang="ru-RU" sz="240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).</a:t>
                </a:r>
              </a:p>
              <a:p>
                <a:pPr marL="0" lvl="0" indent="447675" algn="just" eaLnBrk="0" fontAlgn="base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Font typeface="+mj-lt"/>
                  <a:buAutoNum type="arabicParenR"/>
                </a:pPr>
                <a:r>
                  <a:rPr kumimoji="0" lang="ru-RU" altLang="ru-RU" sz="2400" i="1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Примечание:</a:t>
                </a:r>
                <a:r>
                  <a:rPr kumimoji="0" lang="ru-RU" altLang="ru-RU" sz="240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Параметры </a:t>
                </a:r>
                <a14:m>
                  <m:oMath xmlns:m="http://schemas.openxmlformats.org/officeDocument/2006/math">
                    <m:r>
                      <a:rPr kumimoji="0" lang="ru-RU" altLang="ru-RU" sz="240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𝛼</m:t>
                    </m:r>
                  </m:oMath>
                </a14:m>
                <a:r>
                  <a:rPr kumimoji="0" lang="ru-RU" altLang="ru-RU" sz="240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и </a:t>
                </a:r>
                <a14:m>
                  <m:oMath xmlns:m="http://schemas.openxmlformats.org/officeDocument/2006/math">
                    <m:r>
                      <a:rPr kumimoji="0" lang="ru-RU" altLang="ru-RU" sz="240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𝛽</m:t>
                    </m:r>
                  </m:oMath>
                </a14:m>
                <a:r>
                  <a:rPr kumimoji="0" lang="ru-RU" altLang="ru-RU" sz="240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определяют весовое соотношение (в работе </a:t>
                </a:r>
                <a14:m>
                  <m:oMath xmlns:m="http://schemas.openxmlformats.org/officeDocument/2006/math">
                    <m:r>
                      <a:rPr lang="ru-RU" altLang="ru-RU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𝛼</m:t>
                    </m:r>
                    <m:r>
                      <a:rPr lang="ru-RU" altLang="ru-RU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kumimoji="0" lang="ru-RU" altLang="ru-RU" sz="240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</a:t>
                </a:r>
                <a14:m>
                  <m:oMath xmlns:m="http://schemas.openxmlformats.org/officeDocument/2006/math">
                    <m:r>
                      <a:rPr lang="ru-RU" altLang="ru-RU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𝛽</m:t>
                    </m:r>
                  </m:oMath>
                </a14:m>
                <a:r>
                  <a:rPr kumimoji="0" lang="ru-RU" altLang="ru-RU" sz="240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ru-RU" altLang="ru-RU" sz="240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5" name="Rectangle 1">
                <a:extLst>
                  <a:ext uri="{FF2B5EF4-FFF2-40B4-BE49-F238E27FC236}">
                    <a16:creationId xmlns:a16="http://schemas.microsoft.com/office/drawing/2014/main" id="{C174EA5F-C5B1-F4C5-9732-8A30DD010FF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 bwMode="auto">
              <a:xfrm>
                <a:off x="190499" y="891216"/>
                <a:ext cx="11496675" cy="5714834"/>
              </a:xfrm>
              <a:prstGeom prst="rect">
                <a:avLst/>
              </a:prstGeom>
              <a:blipFill>
                <a:blip r:embed="rId2"/>
                <a:stretch>
                  <a:fillRect l="-795" t="-1173" r="-848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448478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E203184-5821-459D-B1BE-110BA930B2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Архитектура системы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AC26F5C-6092-4C48-99DF-04D152A527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5425"/>
            <a:ext cx="10515600" cy="4681538"/>
          </a:xfrm>
        </p:spPr>
        <p:txBody>
          <a:bodyPr>
            <a:normAutofit fontScale="92500" lnSpcReduction="20000"/>
          </a:bodyPr>
          <a:lstStyle/>
          <a:p>
            <a:pPr marL="0" indent="447675" algn="just">
              <a:lnSpc>
                <a:spcPct val="110000"/>
              </a:lnSpc>
              <a:buNone/>
            </a:pP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Разработанная система имеет модульную структуру:</a:t>
            </a:r>
          </a:p>
          <a:p>
            <a:pPr marL="0" indent="447675" algn="just">
              <a:lnSpc>
                <a:spcPct val="110000"/>
              </a:lnSpc>
              <a:buNone/>
            </a:pPr>
            <a:r>
              <a:rPr lang="ru-RU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Main</a:t>
            </a: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Основной модуль, управляющий запуском экспериментов и сохранением результатов.</a:t>
            </a:r>
          </a:p>
          <a:p>
            <a:pPr marL="0" indent="447675" algn="just">
              <a:lnSpc>
                <a:spcPct val="110000"/>
              </a:lnSpc>
              <a:buNone/>
            </a:pPr>
            <a:r>
              <a:rPr lang="ru-RU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Optimizer</a:t>
            </a: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lvl="1" indent="447675" algn="just">
              <a:lnSpc>
                <a:spcPct val="110000"/>
              </a:lnSpc>
              <a:buNone/>
            </a:pP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Гибридный алгоритм (BFPSO): Центральный модуль, управляющий итерациями популяции.</a:t>
            </a:r>
          </a:p>
          <a:p>
            <a:pPr marL="0" lvl="1" indent="447675" algn="just">
              <a:lnSpc>
                <a:spcPct val="110000"/>
              </a:lnSpc>
              <a:buNone/>
            </a:pPr>
            <a:r>
              <a:rPr lang="ru-RU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SwarmOptimizer</a:t>
            </a: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(PSO): Реализация роевого алгоритма.</a:t>
            </a:r>
          </a:p>
          <a:p>
            <a:pPr marL="0" lvl="1" indent="447675" algn="just">
              <a:lnSpc>
                <a:spcPct val="110000"/>
              </a:lnSpc>
              <a:buNone/>
            </a:pPr>
            <a:r>
              <a:rPr lang="ru-RU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BacterialOptimizer</a:t>
            </a: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(BFOA): Реализация бактериального алгоритма.</a:t>
            </a:r>
          </a:p>
          <a:p>
            <a:pPr marL="0" indent="447675" algn="just">
              <a:lnSpc>
                <a:spcPct val="110000"/>
              </a:lnSpc>
              <a:buNone/>
            </a:pPr>
            <a:r>
              <a:rPr lang="ru-RU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Evaluator</a:t>
            </a: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Критически важный модуль. Отвечает за:</a:t>
            </a:r>
          </a:p>
          <a:p>
            <a:pPr marL="0" lvl="1" indent="447675" algn="just">
              <a:lnSpc>
                <a:spcPct val="110000"/>
              </a:lnSpc>
              <a:buNone/>
            </a:pP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Запуск </a:t>
            </a:r>
            <a:r>
              <a:rPr lang="ru-RU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Docker</a:t>
            </a: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-контейнера с заданными параметрами JVM.</a:t>
            </a:r>
          </a:p>
          <a:p>
            <a:pPr marL="0" lvl="1" indent="447675" algn="just">
              <a:lnSpc>
                <a:spcPct val="110000"/>
              </a:lnSpc>
              <a:buNone/>
            </a:pP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Сбор метрик (времени и пиковой памяти) из контейнерной среды.</a:t>
            </a:r>
          </a:p>
          <a:p>
            <a:pPr marL="0" indent="0">
              <a:buNone/>
            </a:pP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1D92271-1CEF-A4A3-9101-CA54C42675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EF85B-4928-4330-BA98-C984623441A6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68847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2E2DE36-66F8-41A8-BB32-47A8F0ADB0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02541"/>
          </a:xfrm>
        </p:spPr>
        <p:txBody>
          <a:bodyPr>
            <a:normAutofit/>
          </a:bodyPr>
          <a:lstStyle/>
          <a:p>
            <a:pPr algn="ctr"/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Тестовое приложение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D4214D6-2E18-4CA2-9B3E-B900AF5BD8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65320"/>
            <a:ext cx="10515600" cy="5111643"/>
          </a:xfrm>
        </p:spPr>
        <p:txBody>
          <a:bodyPr>
            <a:normAutofit/>
          </a:bodyPr>
          <a:lstStyle/>
          <a:p>
            <a:pPr marL="0" indent="447675">
              <a:lnSpc>
                <a:spcPct val="100000"/>
              </a:lnSpc>
              <a:buNone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Для создания реалистичной нагрузки и тестирования эффективности оптимизации использовалось специальное тестовое приложение, имитирующее:</a:t>
            </a:r>
          </a:p>
          <a:p>
            <a:pPr marL="0" indent="447675">
              <a:lnSpc>
                <a:spcPct val="100000"/>
              </a:lnSpc>
              <a:buNone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Многопоточная нагрузка: Высокая утилизация CPU.</a:t>
            </a:r>
          </a:p>
          <a:p>
            <a:pPr marL="0" indent="447675">
              <a:lnSpc>
                <a:spcPct val="100000"/>
              </a:lnSpc>
              <a:buNone/>
            </a:pP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Garbage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Collection (GC): Генерация значительного количества «мусора» (объектов).</a:t>
            </a:r>
          </a:p>
          <a:p>
            <a:pPr marL="0" indent="447675">
              <a:lnSpc>
                <a:spcPct val="100000"/>
              </a:lnSpc>
              <a:buNone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Pressure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Создание постоянного давления на оперативную память, вызывая частые циклы сборки мусора.</a:t>
            </a:r>
          </a:p>
          <a:p>
            <a:pPr marL="0" indent="447675">
              <a:lnSpc>
                <a:spcPct val="100000"/>
              </a:lnSpc>
              <a:buNone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Цель: гарантировать, что оптимизация найдет параметры, которые эффективно справятся с одновременными требованиями к CPU и памяти.</a:t>
            </a:r>
          </a:p>
          <a:p>
            <a:pPr indent="0" algn="ctr" fontAlgn="base">
              <a:lnSpc>
                <a:spcPct val="150000"/>
              </a:lnSpc>
              <a:buNone/>
            </a:pP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FAD3CBC-2334-793C-01D7-95B697125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EF85B-4928-4330-BA98-C984623441A6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432485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C82EF5D-932E-4285-AD0B-580AB14C1E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02541"/>
          </a:xfrm>
        </p:spPr>
        <p:txBody>
          <a:bodyPr>
            <a:normAutofit/>
          </a:bodyPr>
          <a:lstStyle/>
          <a:p>
            <a:pPr algn="ctr"/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Эксперимент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70AD40D-B345-35A2-70F1-CEDC0673F2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EF85B-4928-4330-BA98-C984623441A6}" type="slidenum">
              <a:rPr lang="ru-RU" smtClean="0"/>
              <a:t>11</a:t>
            </a:fld>
            <a:endParaRPr lang="ru-RU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F09612E6-24AB-D86E-0596-01517649D7F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1" y="1084387"/>
            <a:ext cx="11163300" cy="30008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447675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ru-RU" altLang="ru-RU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Методика тестирования</a:t>
            </a:r>
          </a:p>
          <a:p>
            <a:pPr marL="0" marR="0" lvl="0" indent="447675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ru-RU" altLang="ru-RU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Алгоритмы для сравнения: BFPSO (гибридный), PSO, BFOA, Случайный поиск.</a:t>
            </a:r>
          </a:p>
          <a:p>
            <a:pPr marL="0" marR="0" lvl="0" indent="447675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ru-RU" altLang="ru-RU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Базовая линия (</a:t>
            </a:r>
            <a:r>
              <a:rPr kumimoji="0" lang="ru-RU" altLang="ru-RU" sz="2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Baseline</a:t>
            </a:r>
            <a:r>
              <a:rPr kumimoji="0" lang="ru-RU" altLang="ru-RU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): Дефолтные настройки JVM в контейнере.</a:t>
            </a:r>
          </a:p>
          <a:p>
            <a:pPr marL="0" marR="0" lvl="0" indent="447675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ru-RU" altLang="ru-RU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Процедура: Для каждого алгоритма проведено 5 независимых запусков для обеспечения статистической достоверности.</a:t>
            </a:r>
          </a:p>
          <a:p>
            <a:pPr marL="0" marR="0" lvl="0" indent="447675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ru-RU" altLang="ru-RU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Диапазон поиска: [512, 2048] МБ.</a:t>
            </a:r>
          </a:p>
          <a:p>
            <a:pPr marL="0" indent="447675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ru-RU" altLang="ru-RU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Результаты сравнения (примерные данные из курсовой)</a:t>
            </a:r>
          </a:p>
          <a:p>
            <a:pPr marL="0" indent="447675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ru-RU" altLang="ru-RU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08C366AC-A457-C66C-33BA-757C5BD1FB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3387358"/>
              </p:ext>
            </p:extLst>
          </p:nvPr>
        </p:nvGraphicFramePr>
        <p:xfrm>
          <a:off x="1893091" y="4201930"/>
          <a:ext cx="8405813" cy="215442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426812">
                  <a:extLst>
                    <a:ext uri="{9D8B030D-6E8A-4147-A177-3AD203B41FA5}">
                      <a16:colId xmlns:a16="http://schemas.microsoft.com/office/drawing/2014/main" val="501722587"/>
                    </a:ext>
                  </a:extLst>
                </a:gridCol>
                <a:gridCol w="1108793">
                  <a:extLst>
                    <a:ext uri="{9D8B030D-6E8A-4147-A177-3AD203B41FA5}">
                      <a16:colId xmlns:a16="http://schemas.microsoft.com/office/drawing/2014/main" val="108460790"/>
                    </a:ext>
                  </a:extLst>
                </a:gridCol>
                <a:gridCol w="1120775">
                  <a:extLst>
                    <a:ext uri="{9D8B030D-6E8A-4147-A177-3AD203B41FA5}">
                      <a16:colId xmlns:a16="http://schemas.microsoft.com/office/drawing/2014/main" val="1791215829"/>
                    </a:ext>
                  </a:extLst>
                </a:gridCol>
                <a:gridCol w="1162251">
                  <a:extLst>
                    <a:ext uri="{9D8B030D-6E8A-4147-A177-3AD203B41FA5}">
                      <a16:colId xmlns:a16="http://schemas.microsoft.com/office/drawing/2014/main" val="2391142450"/>
                    </a:ext>
                  </a:extLst>
                </a:gridCol>
                <a:gridCol w="1474703">
                  <a:extLst>
                    <a:ext uri="{9D8B030D-6E8A-4147-A177-3AD203B41FA5}">
                      <a16:colId xmlns:a16="http://schemas.microsoft.com/office/drawing/2014/main" val="1053678526"/>
                    </a:ext>
                  </a:extLst>
                </a:gridCol>
                <a:gridCol w="1112479">
                  <a:extLst>
                    <a:ext uri="{9D8B030D-6E8A-4147-A177-3AD203B41FA5}">
                      <a16:colId xmlns:a16="http://schemas.microsoft.com/office/drawing/2014/main" val="1338033474"/>
                    </a:ext>
                  </a:extLst>
                </a:gridCol>
              </a:tblGrid>
              <a:tr h="482449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tabLst>
                          <a:tab pos="2472690" algn="l"/>
                        </a:tabLst>
                      </a:pPr>
                      <a:r>
                        <a:rPr lang="ru-RU" sz="1400" kern="100">
                          <a:effectLst/>
                        </a:rPr>
                        <a:t>Алгоритм</a:t>
                      </a:r>
                      <a:endParaRPr lang="ru-RU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tabLst>
                          <a:tab pos="2472690" algn="l"/>
                        </a:tabLst>
                      </a:pPr>
                      <a:r>
                        <a:rPr lang="ru-RU" sz="1400" kern="100">
                          <a:effectLst/>
                        </a:rPr>
                        <a:t>Лучший Cost</a:t>
                      </a:r>
                      <a:endParaRPr lang="ru-RU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tabLst>
                          <a:tab pos="2472690" algn="l"/>
                        </a:tabLst>
                      </a:pPr>
                      <a:r>
                        <a:rPr lang="ru-RU" sz="1400" kern="100" dirty="0">
                          <a:effectLst/>
                        </a:rPr>
                        <a:t>Худший Cost</a:t>
                      </a:r>
                      <a:endParaRPr lang="ru-RU" sz="1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tabLst>
                          <a:tab pos="2472690" algn="l"/>
                        </a:tabLst>
                      </a:pPr>
                      <a:r>
                        <a:rPr lang="ru-RU" sz="1400" kern="100" dirty="0">
                          <a:effectLst/>
                        </a:rPr>
                        <a:t>Средний </a:t>
                      </a:r>
                      <a:r>
                        <a:rPr lang="ru-RU" sz="1400" kern="100" dirty="0" err="1">
                          <a:effectLst/>
                        </a:rPr>
                        <a:t>cost</a:t>
                      </a:r>
                      <a:endParaRPr lang="ru-RU" sz="1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tabLst>
                          <a:tab pos="2472690" algn="l"/>
                        </a:tabLst>
                      </a:pPr>
                      <a:r>
                        <a:rPr lang="ru-RU" sz="1400" kern="100" dirty="0">
                          <a:effectLst/>
                        </a:rPr>
                        <a:t>Улучшение (%)</a:t>
                      </a:r>
                      <a:endParaRPr lang="ru-RU" sz="1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tabLst>
                          <a:tab pos="2472690" algn="l"/>
                        </a:tabLst>
                      </a:pPr>
                      <a:r>
                        <a:rPr lang="ru-RU" sz="1400" kern="100">
                          <a:effectLst/>
                        </a:rPr>
                        <a:t>Время работы</a:t>
                      </a:r>
                      <a:endParaRPr lang="ru-RU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76752312"/>
                  </a:ext>
                </a:extLst>
              </a:tr>
              <a:tr h="196721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tabLst>
                          <a:tab pos="2472690" algn="l"/>
                        </a:tabLst>
                      </a:pPr>
                      <a:r>
                        <a:rPr lang="ru-RU" sz="1400" kern="100">
                          <a:effectLst/>
                        </a:rPr>
                        <a:t>Дефолт</a:t>
                      </a:r>
                      <a:endParaRPr lang="ru-RU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tabLst>
                          <a:tab pos="2472690" algn="l"/>
                        </a:tabLst>
                      </a:pPr>
                      <a:r>
                        <a:rPr lang="ru-RU" sz="1400" kern="100">
                          <a:effectLst/>
                        </a:rPr>
                        <a:t>2.0000</a:t>
                      </a:r>
                      <a:endParaRPr lang="ru-RU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tabLst>
                          <a:tab pos="2472690" algn="l"/>
                        </a:tabLst>
                      </a:pPr>
                      <a:r>
                        <a:rPr lang="ru-RU" sz="1400" kern="100">
                          <a:effectLst/>
                        </a:rPr>
                        <a:t>2.0000</a:t>
                      </a:r>
                      <a:endParaRPr lang="ru-RU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tabLst>
                          <a:tab pos="2472690" algn="l"/>
                        </a:tabLst>
                      </a:pPr>
                      <a:r>
                        <a:rPr lang="ru-RU" sz="1400" kern="100">
                          <a:effectLst/>
                        </a:rPr>
                        <a:t>2.0000</a:t>
                      </a:r>
                      <a:endParaRPr lang="ru-RU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tabLst>
                          <a:tab pos="2472690" algn="l"/>
                        </a:tabLst>
                      </a:pPr>
                      <a:r>
                        <a:rPr lang="en-US" sz="1400" kern="100">
                          <a:effectLst/>
                        </a:rPr>
                        <a:t>0</a:t>
                      </a:r>
                      <a:endParaRPr lang="ru-RU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tabLst>
                          <a:tab pos="2472690" algn="l"/>
                        </a:tabLst>
                      </a:pPr>
                      <a:r>
                        <a:rPr lang="ru-RU" sz="1400" kern="100">
                          <a:effectLst/>
                        </a:rPr>
                        <a:t>—</a:t>
                      </a:r>
                      <a:endParaRPr lang="ru-RU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080282189"/>
                  </a:ext>
                </a:extLst>
              </a:tr>
              <a:tr h="315688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tabLst>
                          <a:tab pos="2472690" algn="l"/>
                        </a:tabLst>
                      </a:pPr>
                      <a:r>
                        <a:rPr lang="ru-RU" sz="1400" kern="100">
                          <a:effectLst/>
                        </a:rPr>
                        <a:t>Гибридный(BFPSO)</a:t>
                      </a:r>
                      <a:endParaRPr lang="ru-RU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tabLst>
                          <a:tab pos="2472690" algn="l"/>
                        </a:tabLst>
                      </a:pPr>
                      <a:r>
                        <a:rPr lang="ru-RU" sz="1400" kern="100">
                          <a:effectLst/>
                        </a:rPr>
                        <a:t>1.3583</a:t>
                      </a:r>
                      <a:endParaRPr lang="ru-RU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tabLst>
                          <a:tab pos="2472690" algn="l"/>
                        </a:tabLst>
                      </a:pPr>
                      <a:r>
                        <a:rPr lang="ru-RU" sz="1400" kern="100">
                          <a:effectLst/>
                        </a:rPr>
                        <a:t>1.6347</a:t>
                      </a:r>
                      <a:endParaRPr lang="ru-RU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tabLst>
                          <a:tab pos="2472690" algn="l"/>
                        </a:tabLst>
                      </a:pPr>
                      <a:r>
                        <a:rPr lang="ru-RU" sz="1400" kern="100" dirty="0">
                          <a:effectLst/>
                        </a:rPr>
                        <a:t>1.5078</a:t>
                      </a:r>
                      <a:endParaRPr lang="ru-RU" sz="1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tabLst>
                          <a:tab pos="2472690" algn="l"/>
                        </a:tabLst>
                      </a:pPr>
                      <a:r>
                        <a:rPr lang="ru-RU" sz="1400" kern="100">
                          <a:effectLst/>
                        </a:rPr>
                        <a:t>+32.09%</a:t>
                      </a:r>
                      <a:endParaRPr lang="ru-RU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tabLst>
                          <a:tab pos="2472690" algn="l"/>
                        </a:tabLst>
                      </a:pPr>
                      <a:r>
                        <a:rPr lang="ru-RU" sz="1400" kern="100">
                          <a:effectLst/>
                        </a:rPr>
                        <a:t>24 мин 43 с</a:t>
                      </a:r>
                      <a:endParaRPr lang="ru-RU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92121270"/>
                  </a:ext>
                </a:extLst>
              </a:tr>
              <a:tr h="315688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tabLst>
                          <a:tab pos="2472690" algn="l"/>
                        </a:tabLst>
                      </a:pPr>
                      <a:r>
                        <a:rPr lang="ru-RU" sz="1400" kern="100">
                          <a:effectLst/>
                        </a:rPr>
                        <a:t>Бактериальный (BFOA)</a:t>
                      </a:r>
                      <a:endParaRPr lang="ru-RU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tabLst>
                          <a:tab pos="2472690" algn="l"/>
                        </a:tabLst>
                      </a:pPr>
                      <a:r>
                        <a:rPr lang="ru-RU" sz="1400" kern="100">
                          <a:effectLst/>
                        </a:rPr>
                        <a:t>1.5629</a:t>
                      </a:r>
                      <a:endParaRPr lang="ru-RU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tabLst>
                          <a:tab pos="429260" algn="l"/>
                        </a:tabLst>
                      </a:pPr>
                      <a:r>
                        <a:rPr lang="ru-RU" sz="1400" kern="100">
                          <a:effectLst/>
                        </a:rPr>
                        <a:t>1.6341</a:t>
                      </a:r>
                      <a:endParaRPr lang="ru-RU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tabLst>
                          <a:tab pos="2472690" algn="l"/>
                        </a:tabLst>
                      </a:pPr>
                      <a:r>
                        <a:rPr lang="ru-RU" sz="1400" kern="100" dirty="0">
                          <a:effectLst/>
                        </a:rPr>
                        <a:t>1.6198</a:t>
                      </a:r>
                      <a:endParaRPr lang="ru-RU" sz="1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tabLst>
                          <a:tab pos="2472690" algn="l"/>
                        </a:tabLst>
                      </a:pPr>
                      <a:r>
                        <a:rPr lang="ru-RU" sz="1400" kern="100">
                          <a:effectLst/>
                        </a:rPr>
                        <a:t>+21.85%</a:t>
                      </a:r>
                      <a:endParaRPr lang="ru-RU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tabLst>
                          <a:tab pos="2472690" algn="l"/>
                        </a:tabLst>
                      </a:pPr>
                      <a:r>
                        <a:rPr lang="ru-RU" sz="1400" kern="100">
                          <a:effectLst/>
                        </a:rPr>
                        <a:t>18 мин 35 с</a:t>
                      </a:r>
                      <a:endParaRPr lang="ru-RU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34491496"/>
                  </a:ext>
                </a:extLst>
              </a:tr>
              <a:tr h="315688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tabLst>
                          <a:tab pos="2472690" algn="l"/>
                        </a:tabLst>
                      </a:pPr>
                      <a:r>
                        <a:rPr lang="ru-RU" sz="1400" kern="100">
                          <a:effectLst/>
                        </a:rPr>
                        <a:t>Роевой (PSO)</a:t>
                      </a:r>
                      <a:endParaRPr lang="ru-RU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tabLst>
                          <a:tab pos="540385" algn="l"/>
                        </a:tabLst>
                      </a:pPr>
                      <a:r>
                        <a:rPr lang="ru-RU" sz="1400" kern="100">
                          <a:effectLst/>
                        </a:rPr>
                        <a:t>1.5447</a:t>
                      </a:r>
                      <a:r>
                        <a:rPr lang="en-US" sz="1400" kern="100">
                          <a:effectLst/>
                        </a:rPr>
                        <a:t>	</a:t>
                      </a:r>
                      <a:endParaRPr lang="ru-RU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tabLst>
                          <a:tab pos="2472690" algn="l"/>
                        </a:tabLst>
                      </a:pPr>
                      <a:r>
                        <a:rPr lang="ru-RU" sz="1400" kern="100">
                          <a:effectLst/>
                        </a:rPr>
                        <a:t>1.6341</a:t>
                      </a:r>
                      <a:endParaRPr lang="ru-RU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tabLst>
                          <a:tab pos="2472690" algn="l"/>
                        </a:tabLst>
                      </a:pPr>
                      <a:r>
                        <a:rPr lang="ru-RU" sz="1400" kern="100">
                          <a:effectLst/>
                        </a:rPr>
                        <a:t>1.5983</a:t>
                      </a:r>
                      <a:endParaRPr lang="ru-RU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tabLst>
                          <a:tab pos="2472690" algn="l"/>
                        </a:tabLst>
                      </a:pPr>
                      <a:r>
                        <a:rPr lang="ru-RU" sz="1400" kern="100">
                          <a:effectLst/>
                        </a:rPr>
                        <a:t>+22.76%</a:t>
                      </a:r>
                      <a:endParaRPr lang="ru-RU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tabLst>
                          <a:tab pos="2472690" algn="l"/>
                        </a:tabLst>
                      </a:pPr>
                      <a:r>
                        <a:rPr lang="ru-RU" sz="1400" kern="100">
                          <a:effectLst/>
                        </a:rPr>
                        <a:t>14 мин 16 с</a:t>
                      </a:r>
                      <a:endParaRPr lang="ru-RU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47643332"/>
                  </a:ext>
                </a:extLst>
              </a:tr>
              <a:tr h="315688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tabLst>
                          <a:tab pos="2472690" algn="l"/>
                        </a:tabLst>
                      </a:pPr>
                      <a:r>
                        <a:rPr lang="ru-RU" sz="1400" kern="100">
                          <a:effectLst/>
                        </a:rPr>
                        <a:t>Случайный</a:t>
                      </a:r>
                      <a:endParaRPr lang="ru-RU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tabLst>
                          <a:tab pos="2472690" algn="l"/>
                        </a:tabLst>
                      </a:pPr>
                      <a:r>
                        <a:rPr lang="ru-RU" sz="1400" kern="100">
                          <a:effectLst/>
                        </a:rPr>
                        <a:t>1.9196</a:t>
                      </a:r>
                      <a:endParaRPr lang="ru-RU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tabLst>
                          <a:tab pos="2472690" algn="l"/>
                        </a:tabLst>
                      </a:pPr>
                      <a:r>
                        <a:rPr lang="ru-RU" sz="1400" kern="100">
                          <a:effectLst/>
                        </a:rPr>
                        <a:t>1.9733</a:t>
                      </a:r>
                      <a:endParaRPr lang="ru-RU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tabLst>
                          <a:tab pos="2472690" algn="l"/>
                        </a:tabLst>
                      </a:pPr>
                      <a:r>
                        <a:rPr lang="ru-RU" sz="1400" kern="100" dirty="0">
                          <a:effectLst/>
                        </a:rPr>
                        <a:t>1.9589</a:t>
                      </a:r>
                      <a:endParaRPr lang="ru-RU" sz="1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tabLst>
                          <a:tab pos="2472690" algn="l"/>
                        </a:tabLst>
                      </a:pPr>
                      <a:r>
                        <a:rPr lang="ru-RU" sz="1400" kern="100">
                          <a:effectLst/>
                        </a:rPr>
                        <a:t>+4.02%</a:t>
                      </a:r>
                      <a:endParaRPr lang="ru-RU" sz="14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tabLst>
                          <a:tab pos="2472690" algn="l"/>
                        </a:tabLst>
                      </a:pPr>
                      <a:r>
                        <a:rPr lang="ru-RU" sz="1400" kern="100" dirty="0">
                          <a:effectLst/>
                        </a:rPr>
                        <a:t>2 мин 44 с</a:t>
                      </a:r>
                      <a:endParaRPr lang="ru-RU" sz="14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3007608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442032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AAAA4A5-B705-400F-BFCF-563B6075E3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851116"/>
          </a:xfrm>
        </p:spPr>
        <p:txBody>
          <a:bodyPr>
            <a:normAutofit/>
          </a:bodyPr>
          <a:lstStyle/>
          <a:p>
            <a:pPr algn="ctr"/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эффективности алгоритма</a:t>
            </a:r>
            <a:endParaRPr lang="ru-RU" sz="36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CA52F4B-166D-48E5-89F7-8E123BB1FF07}"/>
              </a:ext>
            </a:extLst>
          </p:cNvPr>
          <p:cNvSpPr txBox="1"/>
          <p:nvPr/>
        </p:nvSpPr>
        <p:spPr>
          <a:xfrm>
            <a:off x="838199" y="4687287"/>
            <a:ext cx="10515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Из графиков выше видно, что гибридный алгоритм потребляет меньше памяти и у него лучше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cost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функция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B99771AB-F6E6-4685-61A3-C2D1294FD5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EF85B-4928-4330-BA98-C984623441A6}" type="slidenum">
              <a:rPr lang="ru-RU" smtClean="0"/>
              <a:t>12</a:t>
            </a:fld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B6707E9-F81E-448B-0505-3ADD9C28E9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8" y="1630781"/>
            <a:ext cx="4533900" cy="2800350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3FC3C488-C9AC-5E05-C59E-5DC225F812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0689" y="1630781"/>
            <a:ext cx="4563110" cy="2752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32890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B818E2F-AFE5-4F9C-987A-626BE4A174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3064"/>
            <a:ext cx="10515600" cy="646929"/>
          </a:xfrm>
        </p:spPr>
        <p:txBody>
          <a:bodyPr>
            <a:normAutofit/>
          </a:bodyPr>
          <a:lstStyle/>
          <a:p>
            <a:pPr algn="ctr"/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Выводы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8001C3F-390B-2CFE-39C5-B468538FB0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EF85B-4928-4330-BA98-C984623441A6}" type="slidenum">
              <a:rPr lang="ru-RU" smtClean="0"/>
              <a:t>13</a:t>
            </a:fld>
            <a:endParaRPr lang="ru-RU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E7D026FA-B6FE-13D3-37DE-8B355C7D8D0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821527"/>
            <a:ext cx="10630299" cy="3323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447675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Ключевые выводы по результатам работы:</a:t>
            </a:r>
          </a:p>
          <a:p>
            <a:pPr marL="0" marR="0" lvl="0" indent="447675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ru-RU" altLang="ru-RU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Гибридный алгоритм BFPSO эффективнее PSO и BFOA, достигая наибольшего снижения Cost-функции (до 32.09%).</a:t>
            </a:r>
          </a:p>
          <a:p>
            <a:pPr marL="0" marR="0" lvl="0" indent="447675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ru-RU" altLang="ru-RU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Подход автоматического подбора параметров JVM (-</a:t>
            </a:r>
            <a:r>
              <a:rPr kumimoji="0" lang="ru-RU" altLang="ru-RU" sz="2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Xms</a:t>
            </a:r>
            <a:r>
              <a:rPr kumimoji="0" lang="ru-RU" altLang="ru-RU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-</a:t>
            </a:r>
            <a:r>
              <a:rPr kumimoji="0" lang="ru-RU" altLang="ru-RU" sz="2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Xmx</a:t>
            </a:r>
            <a:r>
              <a:rPr kumimoji="0" lang="ru-RU" altLang="ru-RU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 с использованием </a:t>
            </a:r>
            <a:r>
              <a:rPr kumimoji="0" lang="ru-RU" altLang="ru-RU" sz="2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метаэвристик</a:t>
            </a:r>
            <a:r>
              <a:rPr kumimoji="0" lang="ru-RU" altLang="ru-RU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оправдан и приводит к существенной экономии ресурсов (снижение пиковой памяти на 64.3%).</a:t>
            </a:r>
          </a:p>
          <a:p>
            <a:pPr marL="0" marR="0" lvl="0" indent="447675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ru-RU" altLang="ru-RU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Разработанный подход применим к реальным JVM-приложениям в среде контейнеров </a:t>
            </a:r>
            <a:r>
              <a:rPr kumimoji="0" lang="ru-RU" altLang="ru-RU" sz="2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Docker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005465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281</TotalTime>
  <Words>744</Words>
  <Application>Microsoft Office PowerPoint</Application>
  <PresentationFormat>Широкоэкранный</PresentationFormat>
  <Paragraphs>121</Paragraphs>
  <Slides>13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9" baseType="lpstr">
      <vt:lpstr>Arial</vt:lpstr>
      <vt:lpstr>Calibri</vt:lpstr>
      <vt:lpstr>Calibri Light</vt:lpstr>
      <vt:lpstr>Cambria Math</vt:lpstr>
      <vt:lpstr>Times New Roman</vt:lpstr>
      <vt:lpstr>Тема Office</vt:lpstr>
      <vt:lpstr>Презентация PowerPoint</vt:lpstr>
      <vt:lpstr>Цели и задачи работы</vt:lpstr>
      <vt:lpstr>Объект и предмет исследования</vt:lpstr>
      <vt:lpstr>Используемые алгоритмы</vt:lpstr>
      <vt:lpstr>Принципы работы алгоритма роя частиц</vt:lpstr>
      <vt:lpstr>Принципы работы бактериального алгоритма</vt:lpstr>
      <vt:lpstr>Принципы работы гибридного алгоритма</vt:lpstr>
      <vt:lpstr>Функция оценки (Cost)</vt:lpstr>
      <vt:lpstr>Архитектура системы</vt:lpstr>
      <vt:lpstr>Тестовое приложение</vt:lpstr>
      <vt:lpstr>Эксперимент</vt:lpstr>
      <vt:lpstr>Анализ эффективности алгоритма</vt:lpstr>
      <vt:lpstr>Выводы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Артем Абдрахманов</dc:creator>
  <cp:lastModifiedBy>Гаджи-ата Шурпаев</cp:lastModifiedBy>
  <cp:revision>27</cp:revision>
  <dcterms:created xsi:type="dcterms:W3CDTF">2021-06-04T09:16:08Z</dcterms:created>
  <dcterms:modified xsi:type="dcterms:W3CDTF">2025-12-15T14:34:35Z</dcterms:modified>
</cp:coreProperties>
</file>